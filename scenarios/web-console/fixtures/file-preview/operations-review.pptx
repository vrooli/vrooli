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p:sldId id="256" r:id="rId1"/>
    <p:sldId id="257" r:id="rId2"/>
    <p:sldId id="258" r:id="rId3"/>
    <p:sldId id="259" r:id="rId4"/>
  </p:sldIdLst>
  <p:sldSz cx="9144000" cy="5143500"/>
  <p:notesSz cx="6858000" cy="9144000"/>
</p:presentation>
</file>

<file path=ppt/_rels/presentation.xml.rels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layout/>
      <c:barChart>
        <c:barDir val="col"/>
        <c:grouping val="clustered"/>
        <c:ser>
          <c:idx val="0"/>
          <c:order val="0"/>
          <c:tx>
            <c:v>Completed tasks</c:v>
          </c:tx>
          <c:spPr>
            <a:solidFill>
              <a:srgbClr val="2B657A"/>
            </a:solidFill>
          </c:spPr>
          <c:cat>
            <c:strLit>
              <c:ptCount val="4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27</c:v>
              </c:pt>
              <c:pt idx="2">
                <c:v>36</c:v>
              </c:pt>
              <c:pt idx="3">
                <c:v>42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notesSlides/_rels/notesSlide1.xml.rels><Relationships xmlns="http://schemas.openxmlformats.org/package/2006/relationships"><Relationship Id="rId1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t>These numbers are illustrative sample data, not business results.</a:t>
            </a:r>
          </a:p>
          <a:p>
            <a:r>
              <a:t>Use this slide to check chart rendering, zoom and speaker notes.</a:t>
            </a:r>
          </a:p>
        </p:txBody>
      </p:sp>
    </p:spTree>
  </p:cSld>
</p:note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/>
</p:sldMaster>
</file>

<file path=ppt/slides/_rels/slide1.xml.rels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Layout" Type="http://schemas.openxmlformats.org/officeDocument/2006/relationships/slideLayout" Target="../slideLayouts/slideLayout1.xml"/><Relationship Id="rIdChart" Type="http://schemas.openxmlformats.org/officeDocument/2006/relationships/chart" Target="../charts/chart1.xml"/><Relationship Id="rIdNotes" Type="http://schemas.openxmlformats.org/officeDocument/2006/relationships/notesSlide" Target="../notesSlides/notesSlide1.xml"/></Relationships>
</file>

<file path=ppt/slides/_rels/slide3.xml.rels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4.xml.rels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/>
        </p:nvSpPr>
        <p:spPr>
          <a:xfrm>
            <a:off x="571500" y="590550"/>
            <a:ext cx="7620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200" b="0">
                <a:solidFill>
                  <a:srgbClr val="58737E"/>
                </a:solidFill>
                <a:latin typeface="Arial"/>
              </a:rPr>
              <a:t>FIELD NOTES / 2026</a:t>
            </a:r>
          </a:p>
        </p:txBody>
      </p:sp>
      <p:sp>
        <p:nvSpPr>
          <p:cNvPr id="3" name="Shape 3"/>
          <p:cNvSpPr txBox="1"/>
          <p:nvPr>
            <p:ph type="title"/>
          </p:nvPr>
        </p:nvSpPr>
        <p:spPr>
          <a:xfrm>
            <a:off x="571500" y="1381125"/>
            <a:ext cx="76200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4200" b="1">
                <a:solidFill>
                  <a:srgbClr val="183B4A"/>
                </a:solidFill>
                <a:latin typeface="Arial"/>
              </a:rPr>
              <a:t>Thoughtful software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71500" y="2571750"/>
            <a:ext cx="7048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950" b="0">
                <a:solidFill>
                  <a:srgbClr val="526A74"/>
                </a:solidFill>
                <a:latin typeface="Arial"/>
              </a:rPr>
              <a:t>Small tools. Clear interactions. Reliable systems.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571500" y="4191000"/>
            <a:ext cx="8001000" cy="28575"/>
          </a:xfrm>
          <a:prstGeom prst="rect">
            <a:avLst/>
          </a:prstGeom>
          <a:solidFill>
            <a:srgbClr val="2B657A"/>
          </a:solidFill>
          <a:ln>
            <a:noFill/>
          </a:ln>
        </p:spPr>
      </p:sp>
      <p:sp>
        <p:nvSpPr>
          <p:cNvPr id="6" name="Shape 6"/>
          <p:cNvSpPr txBox="1"/>
          <p:nvPr/>
        </p:nvSpPr>
        <p:spPr>
          <a:xfrm>
            <a:off x="571500" y="4429125"/>
            <a:ext cx="8001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200" b="0">
                <a:solidFill>
                  <a:srgbClr val="58737E"/>
                </a:solidFill>
                <a:latin typeface="Arial"/>
              </a:rPr>
              <a:t>A local PowerPoint preview sample · Vrooli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>
            <p:ph type="title"/>
          </p:nvPr>
        </p:nvSpPr>
        <p:spPr>
          <a:xfrm>
            <a:off x="571500" y="4953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850" b="1">
                <a:solidFill>
                  <a:srgbClr val="183B4A"/>
                </a:solidFill>
                <a:latin typeface="Arial"/>
              </a:rPr>
              <a:t>Delivery progress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71500" y="12192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 b="0">
                <a:solidFill>
                  <a:srgbClr val="526A74"/>
                </a:solidFill>
                <a:latin typeface="Arial"/>
              </a:rPr>
              <a:t>Illustrative sample · completed tasks by quarter</a:t>
            </a:r>
          </a:p>
        </p:txBody>
      </p:sp>
      <p:graphicFrame>
        <p:nvGraphicFramePr>
          <p:cNvPr id="8" name="Delivery chart"/>
          <p:cNvGraphicFramePr/>
          <p:nvPr/>
        </p:nvGraphicFramePr>
        <p:xfrm>
          <a:off x="571500" y="2000250"/>
          <a:ext cx="7810500" cy="26670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>
            <p:ph type="title"/>
          </p:nvPr>
        </p:nvSpPr>
        <p:spPr>
          <a:xfrm>
            <a:off x="571500" y="4953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850" b="1">
                <a:solidFill>
                  <a:srgbClr val="183B4A"/>
                </a:solidFill>
                <a:latin typeface="Arial"/>
              </a:rPr>
              <a:t>A quieter experience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71500" y="121920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500" b="0">
                <a:solidFill>
                  <a:srgbClr val="526A74"/>
                </a:solidFill>
                <a:latin typeface="Arial"/>
              </a:rPr>
              <a:t>A sample table keeps the details readable.</a:t>
            </a:r>
          </a:p>
        </p:txBody>
      </p:sp>
      <p:graphicFrame>
        <p:nvGraphicFramePr>
          <p:cNvPr id="9" name="Review table"/>
          <p:cNvGraphicFramePr/>
          <p:nvPr/>
        </p:nvGraphicFramePr>
        <p:xfrm>
          <a:off x="571500" y="1952625"/>
          <a:ext cx="8001000" cy="2362200"/>
        </p:xfrm>
        <a:graphic>
          <a:graphicData uri="http://schemas.openxmlformats.org/drawingml/2006/table">
            <a:tbl>
              <a:tblPr firstRow="1"/>
              <a:tblGrid>
                <a:gridCol w="2095500"/>
                <a:gridCol w="4000500"/>
                <a:gridCol w="1905000"/>
              </a:tblGrid>
              <a:tr h="5905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83B4A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14300" marT="114300">
                    <a:solidFill>
                      <a:srgbClr val="E0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83B4A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114300" marT="114300">
                    <a:solidFill>
                      <a:srgbClr val="E0E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83B4A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114300" marT="114300">
                    <a:solidFill>
                      <a:srgbClr val="E0E8E7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Navigation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A clear next step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Content has room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Ready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Recovery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Useful error states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83B4A"/>
                          </a:solidFill>
                          <a:latin typeface="Arial"/>
                        </a:rPr>
                        <a:t>In review</a:t>
                      </a:r>
                    </a:p>
                  </a:txBody>
                  <a:tcPr marL="114300" marT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 txBox="1"/>
          <p:nvPr>
            <p:ph type="title"/>
          </p:nvPr>
        </p:nvSpPr>
        <p:spPr>
          <a:xfrm>
            <a:off x="571500" y="4953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850" b="1">
                <a:solidFill>
                  <a:srgbClr val="183B4A"/>
                </a:solidFill>
                <a:latin typeface="Arial"/>
              </a:rPr>
              <a:t>What comes next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71500" y="18097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2250" b="0">
                <a:solidFill>
                  <a:srgbClr val="183B4A"/>
                </a:solidFill>
                <a:latin typeface="Arial"/>
              </a:rPr>
              <a:t>Keep the useful work in focus.</a:t>
            </a:r>
          </a:p>
        </p:txBody>
      </p:sp>
      <p:sp>
        <p:nvSpPr>
          <p:cNvPr id="4" name="Shape 4"/>
          <p:cNvSpPr txBox="1"/>
          <p:nvPr/>
        </p:nvSpPr>
        <p:spPr>
          <a:xfrm>
            <a:off x="571500" y="2619375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/>
            <a:r>
              <a:rPr lang="en-US" sz="1800" b="0">
                <a:solidFill>
                  <a:srgbClr val="526A74"/>
                </a:solidFill>
                <a:latin typeface="Arial"/>
              </a:rPr>
              <a:t>This hidden slide remains available in the preview, with its original place in the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eld notes">
  <a:themeElements>
    <a:clrScheme name="Field notes">
      <a:dk1>
        <a:srgbClr val="183B4A"/>
      </a:dk1>
      <a:lt1>
        <a:srgbClr val="FFFFFF"/>
      </a:lt1>
      <a:dk2>
        <a:srgbClr val="526A74"/>
      </a:dk2>
      <a:lt2>
        <a:srgbClr val="F5F3EE"/>
      </a:lt2>
      <a:accent1>
        <a:srgbClr val="2B657A"/>
      </a:accent1>
      <a:accent2>
        <a:srgbClr val="7BA6A1"/>
      </a:accent2>
      <a:accent3>
        <a:srgbClr val="B28A59"/>
      </a:accent3>
      <a:accent4>
        <a:srgbClr val="7A8EA1"/>
      </a:accent4>
      <a:accent5>
        <a:srgbClr val="AD756D"/>
      </a:accent5>
      <a:accent6>
        <a:srgbClr val="8A8D6D"/>
      </a:accent6>
      <a:hlink>
        <a:srgbClr val="126A83"/>
      </a:hlink>
      <a:folHlink>
        <a:srgbClr val="7A5E88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eld not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  <a:round/>
          <a:headEnd type="none"/>
          <a:tailEnd type="none"/>
        </a:ln>
        <a:ln w="25400">
          <a:solidFill>
            <a:schemeClr val="phClr"/>
          </a:solidFill>
          <a:prstDash val="solid"/>
          <a:round/>
          <a:headEnd type="none"/>
          <a:tailEnd type="none"/>
        </a:ln>
        <a:ln w="38100">
          <a:solidFill>
            <a:schemeClr val="phClr"/>
          </a:solidFill>
          <a:prstDash val="solid"/>
          <a:round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